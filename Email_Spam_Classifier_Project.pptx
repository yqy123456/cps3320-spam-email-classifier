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0" y="-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383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6815" y="-1371600"/>
            <a:ext cx="548640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0" i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</a:t>
            </a:r>
            <a:endParaRPr lang="en-US" sz="52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3320  ·  COURSE PROJECT GROUP10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Spam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Classifier.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Keras neural network for ham / spam email detection,</a:t>
            </a:r>
            <a:endParaRPr lang="en-US" sz="1500" dirty="0"/>
          </a:p>
          <a:p>
            <a:pPr marL="0" indent="0" algn="l">
              <a:buNone/>
            </a:pPr>
            <a:r>
              <a:rPr lang="en-US" sz="15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from raw CSV to a Tkinter prediction GUI.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760720"/>
            <a:ext cx="36576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5715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Yunxi Zhao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1307816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5715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Qiyang Yu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1306031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99855" y="5852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85455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7C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spam_classifier / SpamEmailClassifier.py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Concept, Structure, and Contribution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· class &amp; function layout · what I personally built.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Concept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Goal.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email text as ham or spam.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follows a professor-style AI workflow:
</a:t>
            </a:r>
            <a:r>
              <a:rPr lang="en-US" sz="130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 → split → vectorize → build NN → train → evaluate → predict.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fully usable: saved model, vocabulary, evaluation reports, and charts.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2057400"/>
            <a:ext cx="502920" cy="50292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Structure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2697480"/>
            <a:ext cx="3657600" cy="32004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029200" y="2697480"/>
            <a:ext cx="54864" cy="3200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257800" y="288036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launches the Tkinter GUI.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gui.py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buttons · progress · metrics · manual predict.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SpamEmailClassifier.py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read_dataset() · separate_data() · normalize() · 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build_my_model() · train_my_model() · 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evaluate_model() · predict_message()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23960" y="2057400"/>
            <a:ext cx="502920" cy="50292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823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0976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Contribution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23960" y="265176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raw CSV email data to a working neural-network classifier.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work: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cleaning &amp; label mapping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bag-of-words vectorization (1500 features)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8 hand-crafted risk signals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Keras model &amp; metric calculation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model save / load + GUI prediction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Classifier  ·  CPS 3320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Handled the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and feature engineering before neural-network training.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1091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109155" cy="54864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1091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83,448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109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94955" y="1920240"/>
            <a:ext cx="21091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794955" y="1920240"/>
            <a:ext cx="2109155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794955" y="2103120"/>
            <a:ext cx="21091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39,538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94955" y="2743200"/>
            <a:ext cx="2109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41270" y="1920240"/>
            <a:ext cx="21091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041270" y="1920240"/>
            <a:ext cx="2109155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041270" y="2103120"/>
            <a:ext cx="21091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43,910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041270" y="2743200"/>
            <a:ext cx="2109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87585" y="1920240"/>
            <a:ext cx="21091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287585" y="1920240"/>
            <a:ext cx="2109155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287585" y="2103120"/>
            <a:ext cx="21091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287585" y="2743200"/>
            <a:ext cx="2109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33900" y="1920240"/>
            <a:ext cx="21091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533900" y="1920240"/>
            <a:ext cx="2109155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533900" y="2103120"/>
            <a:ext cx="21091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533900" y="2743200"/>
            <a:ext cx="2109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47472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and Label Preparation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" y="3886200"/>
            <a:ext cx="52728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combined_data.csv with pandas.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text &amp; label columns.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text + label; drop missing rows.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labels:  ham → 0,  spam → 1.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</a:t>
            </a: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train_test_split(test_size=0.2, random_state=42, stratify=label).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70168" y="347472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Text-to-Number Features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70168" y="3886200"/>
            <a:ext cx="52728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CountVectorizer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1500 word-count features (lowercase, English stop-words, alphabetic tokens).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8 hand-crafted risk signals: </a:t>
            </a:r>
            <a:r>
              <a:rPr lang="en-US" sz="125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digit, offer, urgency, action, money, delivery, security.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70168" y="5394960"/>
            <a:ext cx="5272888" cy="713232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70168" y="5394960"/>
            <a:ext cx="5272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1500</a:t>
            </a:r>
            <a:r>
              <a:rPr lang="en-US" sz="1300" dirty="0">
                <a:solidFill>
                  <a:srgbClr val="64748B"/>
                </a:solidFill>
              </a:rPr>
              <a:t>  words   +   </a:t>
            </a: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r>
              <a:rPr lang="en-US" sz="1300" dirty="0">
                <a:solidFill>
                  <a:srgbClr val="64748B"/>
                </a:solidFill>
              </a:rPr>
              <a:t>  signals   =   </a:t>
            </a:r>
            <a:r>
              <a:rPr lang="en-US" sz="2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1508</a:t>
            </a:r>
            <a:r>
              <a:rPr lang="en-US" sz="1300" dirty="0">
                <a:solidFill>
                  <a:srgbClr val="64748B"/>
                </a:solidFill>
              </a:rPr>
              <a:t>  features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Classifier  ·  CPS 3320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Built the Neural Network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Sequential — Dense(48, ReLU + L2)  →  Dense(1, sigmoid).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92608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228600" dist="38100" dir="5400000" algn="bl" rotWithShape="0">
              <a:srgbClr val="0B122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91440" cy="1554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1508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word counts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8 risk signals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32808" y="2148840"/>
            <a:ext cx="292608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228600" dist="38100" dir="5400000" algn="bl" rotWithShape="0">
              <a:srgbClr val="0B122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632808" y="2148840"/>
            <a:ext cx="91440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907128" y="2313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(hidden)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07128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units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07128" y="3063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16975" y="2148840"/>
            <a:ext cx="292608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blurRad="228600" dist="38100" dir="5400000" algn="bl" rotWithShape="0">
              <a:srgbClr val="0B122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716975" y="2148840"/>
            <a:ext cx="91440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991295" y="2313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991295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91295" y="3063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47872" y="2926080"/>
            <a:ext cx="101178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632040" y="2926080"/>
            <a:ext cx="101178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3454298" cy="18288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1554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103074" y="4800600"/>
            <a:ext cx="1899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binary_crossentropy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093208"/>
            <a:ext cx="1554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103074" y="5093208"/>
            <a:ext cx="1899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 lr = 0.001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385816"/>
            <a:ext cx="1554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103074" y="5385816"/>
            <a:ext cx="1899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batch 128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678424"/>
            <a:ext cx="1554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103074" y="5678424"/>
            <a:ext cx="1899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= 0.2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85818" y="4389120"/>
            <a:ext cx="0" cy="1737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368698" y="42976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68698" y="4663440"/>
            <a:ext cx="3454298" cy="18288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368698" y="4800600"/>
            <a:ext cx="1554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23133" y="4800600"/>
            <a:ext cx="1899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on Dense layers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368698" y="5093208"/>
            <a:ext cx="1554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923133" y="5093208"/>
            <a:ext cx="1899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3 (val)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05877" y="4389120"/>
            <a:ext cx="0" cy="1737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188757" y="42976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assets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188757" y="4663440"/>
            <a:ext cx="3454298" cy="18288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188757" y="4800600"/>
            <a:ext cx="1554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my_model.keras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743191" y="4800600"/>
            <a:ext cx="1899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weights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188757" y="5093208"/>
            <a:ext cx="1554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vocabulary.json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743191" y="5093208"/>
            <a:ext cx="1899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 vocab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Classifier  ·  CPS 3320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Results I Obtained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evaluation on 16,690 held-out test messages.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8720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087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0.9829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0872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00441" y="1920240"/>
            <a:ext cx="208720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800441" y="2103120"/>
            <a:ext cx="2087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0.9791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00441" y="2697480"/>
            <a:ext cx="20872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52243" y="1920240"/>
            <a:ext cx="208720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052243" y="2103120"/>
            <a:ext cx="2087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0.9886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52243" y="2697480"/>
            <a:ext cx="20872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04044" y="1920240"/>
            <a:ext cx="208720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04044" y="2103120"/>
            <a:ext cx="2087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0.9838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04044" y="2697480"/>
            <a:ext cx="20872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55846" y="1920240"/>
            <a:ext cx="2087209" cy="11887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555846" y="2103120"/>
            <a:ext cx="2087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0.9975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555846" y="2697480"/>
            <a:ext cx="20872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Ham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Spam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4297680"/>
            <a:ext cx="2194560" cy="914400"/>
          </a:xfrm>
          <a:prstGeom prst="rect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463040" y="4389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7,753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46304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0" y="4297680"/>
            <a:ext cx="2194560" cy="914400"/>
          </a:xfrm>
          <a:prstGeom prst="rect">
            <a:avLst/>
          </a:prstGeom>
          <a:solidFill>
            <a:srgbClr val="FECAC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657600" y="4389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65760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5212080"/>
            <a:ext cx="2194560" cy="914400"/>
          </a:xfrm>
          <a:prstGeom prst="rect">
            <a:avLst/>
          </a:prstGeom>
          <a:solidFill>
            <a:srgbClr val="FECAC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46304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463040" y="5806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5212080"/>
            <a:ext cx="2194560" cy="914400"/>
          </a:xfrm>
          <a:prstGeom prst="rect">
            <a:avLst/>
          </a:prstGeom>
          <a:solidFill>
            <a:srgbClr val="D1FA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65760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8,652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3657600" y="5806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42900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931920"/>
            <a:ext cx="524225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</a:t>
            </a: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8,652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spam and </a:t>
            </a: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7,753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ham emails.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0.9838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shows balanced precision and recall.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0.9975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indicates very strong separation between ham and spam probabilities.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positives: 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False negatives: 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Classifier  ·  CPS 3320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DESIGN CHOICES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 Modification &amp; Comparison Choice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network modified or compared with known algorithms?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54298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212140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454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Stronger Inputs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4542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does not receive raw text directly.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email is converted to: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1500 bag-of-words counts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8 hand-crafted spam-risk signals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combines vocabulary evidence with domain knowledge before training begins.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011680"/>
            <a:ext cx="3454298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68698" y="212140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368698" y="3017520"/>
            <a:ext cx="3454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68698" y="3273552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Generalization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68698" y="3886200"/>
            <a:ext cx="34542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regularizers keep the model honest: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L2 on every Dense layer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EarlyStopping (patience = 3)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while keeping the architecture easy to explain in class.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8757" y="2011680"/>
            <a:ext cx="3454298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188757" y="212140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188757" y="3017520"/>
            <a:ext cx="3454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88757" y="3273552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Other Algorithms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88757" y="3886200"/>
            <a:ext cx="34542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 / test split, same features.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88757" y="612648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/>
          </a:p>
        </p:txBody>
      </p:sp>
      <p:sp>
        <p:nvSpPr>
          <p:cNvPr id="22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Classifier  ·  CPS 3320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pic>
        <p:nvPicPr>
          <p:cNvPr id="24" name="Picture 23" descr="accura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267" y="4297680"/>
            <a:ext cx="3991425" cy="2060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VISUALIZATION  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Statistics Visualization  ·  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loss function, accuracy, precision, recall, F1, AUC, and confusion matrix.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4572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Loss function:  </a:t>
            </a:r>
            <a:r>
              <a:rPr lang="en-US" sz="13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binary_crossentropy</a:t>
            </a:r>
            <a:r>
              <a:rPr lang="en-US" sz="1200" dirty="0">
                <a:solidFill>
                  <a:srgbClr val="E2E8F0"/>
                </a:solidFill>
              </a:rPr>
              <a:t>     ·     </a:t>
            </a:r>
            <a:r>
              <a:rPr lang="en-US" sz="1200" i="1" dirty="0">
                <a:solidFill>
                  <a:srgbClr val="334155"/>
                </a:solidFill>
              </a:rPr>
              <a:t>Scores are taken from the saved model evaluation; AUC is computed on test probabilities.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89788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 7,753   ·   FP  185   ·   FN  100   ·   TP  8,652</a:t>
            </a:r>
            <a:endParaRPr lang="en-US" sz="1100" dirty="0"/>
          </a:p>
        </p:txBody>
      </p:sp>
      <p:pic>
        <p:nvPicPr>
          <p:cNvPr id="9" name="Image 1" descr="/home/claude/assets/chart_confus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23494" y="2606040"/>
            <a:ext cx="3838755" cy="3246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589788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cells (correct) shown in green; off-diagonal errors in red.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Classifier  ·  CPS 3320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pic>
        <p:nvPicPr>
          <p:cNvPr id="13" name="Picture 12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6040"/>
            <a:ext cx="5318608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VISUALIZATION  II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Statistics Visualization  ·  II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during  ·  after training — dataset balance, loss curve, and ROC.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8978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 ·  nearly balanced classes after cleaning.</a:t>
            </a:r>
            <a:endParaRPr lang="en-US" sz="1050" dirty="0"/>
          </a:p>
        </p:txBody>
      </p:sp>
      <p:pic>
        <p:nvPicPr>
          <p:cNvPr id="7" name="Image 1" descr="/home/claude/assets/chart_lo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2439" y="2011680"/>
            <a:ext cx="3935358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38218" y="58978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  ·  val-loss bottoms at epoch 7 — EarlyStopping triggers next.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8127797" y="58978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  ·  AUC 0.9975  ·  near-perfect ham / spam separation.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Classifier  ·  CPS 3320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pic>
        <p:nvPicPr>
          <p:cNvPr id="13" name="Picture 12" descr="class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09" y="2011680"/>
            <a:ext cx="3701589" cy="3840480"/>
          </a:xfrm>
          <a:prstGeom prst="rect">
            <a:avLst/>
          </a:prstGeom>
        </p:spPr>
      </p:pic>
      <p:pic>
        <p:nvPicPr>
          <p:cNvPr id="14" name="Picture 13" descr="roc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3097" y="2760453"/>
            <a:ext cx="3515258" cy="30917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9283A9F-930D-C9E0-5618-C4F39161E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" y="0"/>
            <a:ext cx="9654541" cy="662208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APPENDIX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Classifier  ·  CPS 3320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909</Words>
  <Application>Microsoft Office PowerPoint</Application>
  <PresentationFormat>Widescreen</PresentationFormat>
  <Paragraphs>200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Spam Classifier</dc:title>
  <dc:subject>PptxGenJS Presentation</dc:subject>
  <dc:creator>Yunxi Zhao, Qiyang Yu</dc:creator>
  <cp:lastModifiedBy>qy y</cp:lastModifiedBy>
  <cp:revision>15</cp:revision>
  <dcterms:created xsi:type="dcterms:W3CDTF">2026-05-25T07:25:11Z</dcterms:created>
  <dcterms:modified xsi:type="dcterms:W3CDTF">2026-05-27T07:51:36Z</dcterms:modified>
</cp:coreProperties>
</file>